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09728" cy="4663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EDITING AS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D4AF37"/>
                </a:solidFill>
              </a:rPr>
              <a:t>Continuity, Montage, and the Construction of Meaning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11880"/>
            <a:ext cx="112745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AAAAA"/>
                </a:solidFill>
              </a:rPr>
              <a:t>Film / Animation Aesthetics  ·  Week 6: Editing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51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77777"/>
                </a:solidFill>
              </a:rPr>
              <a:t>Based on lecture notes by Dr Niles Qi Li, SCC-CTV UIC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0" y="320040"/>
            <a:ext cx="502920" cy="502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0" y="1143000"/>
            <a:ext cx="502920" cy="502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0" y="1965960"/>
            <a:ext cx="502920" cy="502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0" y="2788920"/>
            <a:ext cx="502920" cy="502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0" y="3611880"/>
            <a:ext cx="502920" cy="502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5600" y="4434840"/>
            <a:ext cx="502920" cy="502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15600" y="5257800"/>
            <a:ext cx="502920" cy="502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0" y="6080759"/>
            <a:ext cx="502920" cy="502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Why Does the Order of Shots Matter?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D4AF37"/>
                </a:solidFill>
              </a:rPr>
              <a:t>"The foundation of film art is editing."
— V. I. Pudovkin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06040"/>
            <a:ext cx="112745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🎬  In 1918, Soviet filmmaker Lev Kuleshov intercut an actor's neutral face with three different images — a bowl of soup, a child in a coffin, a woman on a sofa.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4787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🎬  Audiences praised the actor's nuanced performance: hunger, grief, desire.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5254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🎬  Yet the face was always identical.  The meaning came entirely from the edit.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57216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🎬  This is the Kuleshov Effect — and it is the starting point of our investigation.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26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6A1A"/>
                </a:solidFill>
              </a:rPr>
              <a:t>Central Argument:  Editing is not merely a technical tool but the primary language through which cinema constructs space, time, and meaning.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PRESENTATION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Three Analytical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566160" cy="42976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566160" cy="502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9047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0D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</a:rPr>
              <a:t>Two Traditions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Découpage classique vs. European montage — a historical split with aesthetic consequences.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463040"/>
            <a:ext cx="3566160" cy="42976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463040"/>
            <a:ext cx="3566160" cy="502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49047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0D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103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</a:rPr>
              <a:t>Continuity Editing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8346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The grammar of Hollywood cinema: eyeline match, 180° rule, shot/reverse shot.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4464" y="1463040"/>
            <a:ext cx="3566160" cy="42976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84464" y="1463040"/>
            <a:ext cx="3566160" cy="502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149047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0D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2103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</a:rPr>
              <a:t>Montage &amp; Intellectual Juxtaposition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28346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Eisenstein's five methods and how meaning is produced through contrast.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99999"/>
                </a:solidFill>
              </a:rPr>
              <a:t>→  Each section will be grounded in specific film examples.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404040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1031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TWO TRADITIONS
OF EDITING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4160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D4AF37"/>
                </a:solidFill>
              </a:rPr>
              <a:t>Découpage classique   ·   European Montage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SECTION 01  ·  TWO TRADITIONS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Hollywood vs. European Approaches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394960" cy="5029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94960" cy="502920"/>
          </a:xfrm>
          <a:prstGeom prst="rect">
            <a:avLst/>
          </a:prstGeom>
          <a:solidFill>
            <a:srgbClr val="14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DÉCOUPAGE CLASSIQUE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Aims for smooth, invisible transitions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5000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Always begins with an establishing 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25496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Strict rules for dialogue scenes:
  master shot + reverse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00984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'Less motion → shorter shot'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7647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Designed to concentrate attention
  on narrative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5196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2744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Example: Classical Hollywood films
(1930–60), avg. shot length 8–11 sec.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234440"/>
            <a:ext cx="5394960" cy="5029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234440"/>
            <a:ext cx="5394960" cy="502920"/>
          </a:xfrm>
          <a:prstGeom prst="rect">
            <a:avLst/>
          </a:prstGeom>
          <a:solidFill>
            <a:srgbClr val="6E2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25272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EUROPEAN MONTAGE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74519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Editing as construction, not trimming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5000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A film is built from raw material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25496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Lumière (realism) vs. Méliès (fantasy)
  → the first theoretical split in cinema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300984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Seeks to stimulate ideas and emotions
  through contrast and juxtaposition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77647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Godard: 'Montage does in time what
  mise-en-scène does in space'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5196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2744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Example: Eisenstein's Strike (1925),
Méliès's The Magician (1898)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1447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A1A"/>
                </a:solidFill>
              </a:rPr>
              <a:t>Key insight: the choice of tradition is ideological — Hollywood hides the apparatus; European montage exposes and exploits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4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404040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1031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CONTINUITY
EDITING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4160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6AB4DC"/>
                </a:solidFill>
              </a:rPr>
              <a:t>The invisible grammar of classical Hollywood cinema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B4DC"/>
                </a:solidFill>
              </a:rPr>
              <a:t>SECTION 02  ·  CONTINUITY EDITING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Six Core Techniques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210312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411480"/>
          </a:xfrm>
          <a:prstGeom prst="rect">
            <a:avLst/>
          </a:prstGeom>
          <a:solidFill>
            <a:srgbClr val="14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316736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Eyeline 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83080"/>
            <a:ext cx="34381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Cut from character looking → to what they see.
Creates spatial and emotional coherence.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657600" cy="210312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657600" cy="411480"/>
          </a:xfrm>
          <a:prstGeom prst="rect">
            <a:avLst/>
          </a:prstGeom>
          <a:solidFill>
            <a:srgbClr val="14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316736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180-Degree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783080"/>
            <a:ext cx="34381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Camera stays on one side of the action.
Ensures consistent left-right screen direction.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3657600" cy="210312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280160"/>
            <a:ext cx="3657600" cy="411480"/>
          </a:xfrm>
          <a:prstGeom prst="rect">
            <a:avLst/>
          </a:prstGeom>
          <a:solidFill>
            <a:srgbClr val="14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1316736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Match on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1783080"/>
            <a:ext cx="34381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Cut mid-movement so the action continues
across two shots seamlessly.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57600"/>
            <a:ext cx="3657600" cy="210312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657600"/>
            <a:ext cx="3657600" cy="411480"/>
          </a:xfrm>
          <a:prstGeom prst="rect">
            <a:avLst/>
          </a:prstGeom>
          <a:solidFill>
            <a:srgbClr val="14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694176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Shot / Reverse 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4160520"/>
            <a:ext cx="34381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Cross-cutting between two characters in dialogue.
Used in virtually every conversation scene.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657600"/>
            <a:ext cx="3657600" cy="210312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657600"/>
            <a:ext cx="3657600" cy="411480"/>
          </a:xfrm>
          <a:prstGeom prst="rect">
            <a:avLst/>
          </a:prstGeom>
          <a:solidFill>
            <a:srgbClr val="14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3694176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Establishing Shot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4160520"/>
            <a:ext cx="34381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Wide shot that anchors the scene in space
before cutting to closer views.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657600"/>
            <a:ext cx="3657600" cy="210312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657600"/>
            <a:ext cx="3657600" cy="411480"/>
          </a:xfrm>
          <a:prstGeom prst="rect">
            <a:avLst/>
          </a:prstGeom>
          <a:solidFill>
            <a:srgbClr val="14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7" y="3694176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J-Cut / L-Cut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4160520"/>
            <a:ext cx="34381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Audio from next/previous shot bleeds across the edit.
Smooths transitions; common in modern cinema.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17220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Case study: Rear Window (Hitchcock, 1954) — the opening pan-and-track masterclass in continuity exposition.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B4DC"/>
                </a:solidFill>
              </a:rPr>
              <a:t>SECTION 02  ·  CONTINUITY EDITING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When Rules Are Broken —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338560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09728" cy="13716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087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6A1A"/>
                </a:solidFill>
              </a:rPr>
              <a:t>25th Hour  (Spike Lee, 2002)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9659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The DEA home-search scene deliberately crosses the 180° axis to produce disorientation and moral ambiguity — mirroring the protagonist's fractured psychology.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71800"/>
            <a:ext cx="11338560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971800"/>
            <a:ext cx="109728" cy="13716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30632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6A1A"/>
                </a:solidFill>
              </a:rPr>
              <a:t>Pulp Fiction  (Tarantino, 1994)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5204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Graphic matching (Vincent / Jules framed at opposite screen ends in alternating shots) creates visual balance despite spatial discontinuity — a formal joke about opposites.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526280"/>
            <a:ext cx="11338560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526280"/>
            <a:ext cx="109728" cy="13716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617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6A1A"/>
                </a:solidFill>
              </a:rPr>
              <a:t>Blockbuster 'Hero Shot'  (Michael Bay)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0749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Repeated axis-crossing during action sequences fragments space intentionally — the confusion itself communicates chaos and overwhelming force.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14476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</a:rPr>
              <a:t>Principle: Breaking continuity rules is itself expressive — it must serve a narrative or thematic purpose, not be accidental.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404040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10312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MONTAGE &amp;
JUXTAPOSITION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42519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AF37"/>
                </a:solidFill>
              </a:rPr>
              <a:t>Eisenstein · Intellectual montage · The Kuleshov Effect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SECTION 03  ·  MONTAGE &amp; JUXTAPOSITION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Kuleshov Effect — Context Manufactures Emotion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383280" cy="3200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3383280" cy="5486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Neutral
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Actor Ivan Mosjoukine —
the same shot each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5603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4AF37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3383280" cy="3200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3383280" cy="5486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3533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+ Image
A / B /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1168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Soup  |  Coffin  |  Woman
(three different cuts)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5603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4AF37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325880"/>
            <a:ext cx="3383280" cy="3200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1325880"/>
            <a:ext cx="3383280" cy="54864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3533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= New
Meaning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1168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Hunger  |  Grief  |  Desire
(three different readings)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54880"/>
            <a:ext cx="112745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846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Theoretical implication: The spectator does not passively receive meaning — they actively construct it from the juxtaposition of images. Editing is therefore a cognitive and emotional instrument, not merely a practical 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89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</a:rPr>
              <a:t>Noël Carroll: 'Editing is a means of articulation… it enables filmmakers to convey stories, metaphors, and even theories to spectators.'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SECTION 03  ·  MONTAGE &amp; JUXTAPOSITION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Eisenstein's Five Methods of Montage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20116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43891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325880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810512"/>
            <a:ext cx="3438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Cutting at fixed intervals regardless of content;
 creates mechanical, relentless rhythm.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657600" cy="20116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657600" cy="43891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325880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Rhythmic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810512"/>
            <a:ext cx="3438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Cutting based on the visual content of shots;
 movement within the frame determines pace.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3657600" cy="20116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280160"/>
            <a:ext cx="3657600" cy="43891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1325880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1810512"/>
            <a:ext cx="3438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Editing to the dominant emotional 'tone' of each
 shot — light, shadow, sound texture.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66160"/>
            <a:ext cx="3657600" cy="20116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3657600" cy="43891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611879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Overtonal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4096511"/>
            <a:ext cx="3438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Collision of metric, rhythmic, and tonal montage
 simultaneously; maximum emotional intensity.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5676" y="3566160"/>
            <a:ext cx="3657600" cy="20116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65676" y="3566160"/>
            <a:ext cx="3657600" cy="43891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5404" y="3611879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Intellectual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5404" y="4096511"/>
            <a:ext cx="3438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Juxtaposing images to generate abstract concepts
 beyond what either image shows alone.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14476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Case: The Odessa Steps sequence — Battleship Potemkin (Eisenstein, 1925) deploys all five methods to build catastrophic emotional crescendo.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SECTION 03  · 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Strike (Eisenstein, 1925) — Intellectual Montage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2103120" cy="3200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463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SHOT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10312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Workers being
gunned down by Tsarist troops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743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AF37"/>
                </a:solidFill>
              </a:rPr>
              <a:t>CUT  +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79" y="1371600"/>
            <a:ext cx="2103120" cy="3200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19" y="1463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SHOT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19" y="210312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Close-up of a bull being
slaughtered in an abattoir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59" y="2743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AF37"/>
                </a:solidFill>
              </a:rPr>
              <a:t>=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46919" y="1371600"/>
            <a:ext cx="2103120" cy="32004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38359" y="1463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59" y="210312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The workers ARE cattle —
dehumanised by capital &amp; state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00600"/>
            <a:ext cx="112745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8920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This is the most radical claim of montage theory: two images placed together produce a third idea that exists in neither image — editing creates concepts, not merely stories.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85216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99999"/>
                </a:solidFill>
              </a:rPr>
              <a:t>Compare: Pulp Fiction (1994) — non-linear ordering of the same events creates irony, suspense, and thematic resonance impossible in chronological presentation.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Four Dimensions of Editing (Bordwell &amp; Thompson)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560320" cy="4206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502920"/>
          </a:xfrm>
          <a:prstGeom prst="rect">
            <a:avLst/>
          </a:prstGeom>
          <a:solidFill>
            <a:srgbClr val="14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23408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GRAPHIC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20240"/>
            <a:ext cx="2340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Visual composition of shot A
vs. shot B — continuity
or expressive contrast.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560320" cy="4206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280160"/>
            <a:ext cx="2560320" cy="502920"/>
          </a:xfrm>
          <a:prstGeom prst="rect">
            <a:avLst/>
          </a:prstGeom>
          <a:solidFill>
            <a:srgbClr val="6E2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298448"/>
            <a:ext cx="23408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RHYTHMIC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1920240"/>
            <a:ext cx="2340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Shot length controls pace.
Shorter shots accelerate;
longer shots decelerate.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2560320" cy="4206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280160"/>
            <a:ext cx="2560320" cy="502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298448"/>
            <a:ext cx="23408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SPATIAL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1920240"/>
            <a:ext cx="2340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Constructive editing builds
space from partial views.
Kuleshov: we infer the whole.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280160"/>
            <a:ext cx="2560320" cy="4206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280160"/>
            <a:ext cx="2560320" cy="502920"/>
          </a:xfrm>
          <a:prstGeom prst="rect">
            <a:avLst/>
          </a:prstGeom>
          <a:solidFill>
            <a:srgbClr val="276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298448"/>
            <a:ext cx="23408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TEMPORAL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1920240"/>
            <a:ext cx="2340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Order (linear/flashback),
duration (ellipsis), frequency
(repetition for emphasis).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Every edit is a simultaneous decision across all four dimensions — mastery of editing means orchestrating all four in service of the film's meaning.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5508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77777"/>
                </a:solidFill>
              </a:rPr>
              <a:t>Hollywood ASL 1930–60 ≈ 8–11 sec  →  1980s ≈ 5–7 sec  →  late 1990s some films reached 1.8 sec (Dark City, 1998)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Editing as the Constitutive Language of Cinema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45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73152" cy="8686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AF37"/>
                </a:solidFill>
              </a:rPr>
              <a:t>01  Tradition as ideology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The Hollywood/European split reveals that editing style is never neutral — it encodes assumptions about how film should relate to reality.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60320"/>
            <a:ext cx="73152" cy="8686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AF37"/>
                </a:solidFill>
              </a:rPr>
              <a:t>02  Grammar made visible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62656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Continuity editing creates the illusion of seamless space and time; when broken deliberately, the rupture itself becomes expressive meaning.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657600"/>
            <a:ext cx="73152" cy="8686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657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AF37"/>
                </a:solidFill>
              </a:rPr>
              <a:t>03  Juxtaposition as thought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059936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Intellectual montage (Eisenstein) and the Kuleshov Effect demonstrate that editing does not merely record action — it produces ideas.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754879"/>
            <a:ext cx="73152" cy="8686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754879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AF37"/>
                </a:solidFill>
              </a:rPr>
              <a:t>04  An open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157216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As average shot length continues to contract in contemporary digital cinema, is the 'grammar' of editing accelerating, dissolving, or evolving?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112745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035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AA"/>
                </a:solidFill>
              </a:rPr>
              <a:t>"To Bazin's question 'What is Cinema?' Metz replied: cinema is a language.  And editing is its syntax."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REFERENCES &amp; FILM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Bordwell, D. &amp; Thompson, K. (2010). Film Art: An Introduction (10th ed.). McGraw-Hill.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73352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Carroll, N. (1996). Theorizing the Moving Image. Cambridge University Press.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20824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Eisenstein, S. (1949). Film Form: Essays in Film Theory. Harcourt.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68296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Godard, J.-L. (1956). 'Montage, mon beau souci.' Cahiers du cinéma.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15768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Monaco, J. (2000). How to Read a Film. Oxford University Press.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39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Metz, C. (1974). Film Language: A Semiotics of the Cinema. Oxford University Press.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10712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58184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Films discussed: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05656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Battleship Potemkin (Eisenstein, 1925)  ·  Strike (Eisenstein, 1925)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53128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Pulp Fiction (Tarantino, 1994)  ·  Rear Window (Hitchcock, 1954)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00600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25th Hour (Spike Lee, 2002)  ·  The Magician / Le Magicien (Méliès, 1898)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48072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Legally Blonde (Luketic, 2001)  ·  Dark City (Proyas, 1998)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